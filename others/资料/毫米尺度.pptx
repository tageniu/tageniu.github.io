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6" r:id="rId4"/>
    <p:sldId id="258" r:id="rId5"/>
    <p:sldId id="261" r:id="rId6"/>
    <p:sldId id="259" r:id="rId7"/>
    <p:sldId id="260" r:id="rId8"/>
    <p:sldId id="264" r:id="rId9"/>
    <p:sldId id="265" r:id="rId10"/>
    <p:sldId id="263" r:id="rId11"/>
    <p:sldId id="262"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1" d="100"/>
          <a:sy n="71" d="100"/>
        </p:scale>
        <p:origin x="9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21D7CEF3-1476-497B-BC32-2777A3BB047F}" type="datetimeFigureOut">
              <a:rPr lang="zh-CN" altLang="en-US" smtClean="0"/>
              <a:t>2018/3/28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F177FC9-341F-42BC-B6B9-20EA2BB11FCE}" type="slidenum">
              <a:rPr lang="zh-CN" altLang="en-US" smtClean="0"/>
              <a:t>‹#›</a:t>
            </a:fld>
            <a:endParaRPr lang="zh-CN" altLang="en-US"/>
          </a:p>
        </p:txBody>
      </p:sp>
    </p:spTree>
    <p:extLst>
      <p:ext uri="{BB962C8B-B14F-4D97-AF65-F5344CB8AC3E}">
        <p14:creationId xmlns:p14="http://schemas.microsoft.com/office/powerpoint/2010/main" val="8531906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1D7CEF3-1476-497B-BC32-2777A3BB047F}" type="datetimeFigureOut">
              <a:rPr lang="zh-CN" altLang="en-US" smtClean="0"/>
              <a:t>2018/3/28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F177FC9-341F-42BC-B6B9-20EA2BB11FCE}" type="slidenum">
              <a:rPr lang="zh-CN" altLang="en-US" smtClean="0"/>
              <a:t>‹#›</a:t>
            </a:fld>
            <a:endParaRPr lang="zh-CN" altLang="en-US"/>
          </a:p>
        </p:txBody>
      </p:sp>
    </p:spTree>
    <p:extLst>
      <p:ext uri="{BB962C8B-B14F-4D97-AF65-F5344CB8AC3E}">
        <p14:creationId xmlns:p14="http://schemas.microsoft.com/office/powerpoint/2010/main" val="21291213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21D7CEF3-1476-497B-BC32-2777A3BB047F}" type="datetimeFigureOut">
              <a:rPr lang="zh-CN" altLang="en-US" smtClean="0"/>
              <a:t>2018/3/28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F177FC9-341F-42BC-B6B9-20EA2BB11FCE}" type="slidenum">
              <a:rPr lang="zh-CN" altLang="en-US" smtClean="0"/>
              <a:t>‹#›</a:t>
            </a:fld>
            <a:endParaRPr lang="zh-CN" altLang="en-US"/>
          </a:p>
        </p:txBody>
      </p:sp>
    </p:spTree>
    <p:extLst>
      <p:ext uri="{BB962C8B-B14F-4D97-AF65-F5344CB8AC3E}">
        <p14:creationId xmlns:p14="http://schemas.microsoft.com/office/powerpoint/2010/main" val="20800123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21D7CEF3-1476-497B-BC32-2777A3BB047F}" type="datetimeFigureOut">
              <a:rPr lang="zh-CN" altLang="en-US" smtClean="0"/>
              <a:t>2018/3/28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F177FC9-341F-42BC-B6B9-20EA2BB11FCE}" type="slidenum">
              <a:rPr lang="zh-CN" altLang="en-US" smtClean="0"/>
              <a:t>‹#›</a:t>
            </a:fld>
            <a:endParaRPr lang="zh-CN" altLang="en-US"/>
          </a:p>
        </p:txBody>
      </p:sp>
    </p:spTree>
    <p:extLst>
      <p:ext uri="{BB962C8B-B14F-4D97-AF65-F5344CB8AC3E}">
        <p14:creationId xmlns:p14="http://schemas.microsoft.com/office/powerpoint/2010/main" val="2386171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21D7CEF3-1476-497B-BC32-2777A3BB047F}" type="datetimeFigureOut">
              <a:rPr lang="zh-CN" altLang="en-US" smtClean="0"/>
              <a:t>2018/3/28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F177FC9-341F-42BC-B6B9-20EA2BB11FCE}" type="slidenum">
              <a:rPr lang="zh-CN" altLang="en-US" smtClean="0"/>
              <a:t>‹#›</a:t>
            </a:fld>
            <a:endParaRPr lang="zh-CN" altLang="en-US"/>
          </a:p>
        </p:txBody>
      </p:sp>
    </p:spTree>
    <p:extLst>
      <p:ext uri="{BB962C8B-B14F-4D97-AF65-F5344CB8AC3E}">
        <p14:creationId xmlns:p14="http://schemas.microsoft.com/office/powerpoint/2010/main" val="12345921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1D7CEF3-1476-497B-BC32-2777A3BB047F}" type="datetimeFigureOut">
              <a:rPr lang="zh-CN" altLang="en-US" smtClean="0"/>
              <a:t>2018/3/28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F177FC9-341F-42BC-B6B9-20EA2BB11FCE}" type="slidenum">
              <a:rPr lang="zh-CN" altLang="en-US" smtClean="0"/>
              <a:t>‹#›</a:t>
            </a:fld>
            <a:endParaRPr lang="zh-CN" altLang="en-US"/>
          </a:p>
        </p:txBody>
      </p:sp>
    </p:spTree>
    <p:extLst>
      <p:ext uri="{BB962C8B-B14F-4D97-AF65-F5344CB8AC3E}">
        <p14:creationId xmlns:p14="http://schemas.microsoft.com/office/powerpoint/2010/main" val="2380279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1D7CEF3-1476-497B-BC32-2777A3BB047F}" type="datetimeFigureOut">
              <a:rPr lang="zh-CN" altLang="en-US" smtClean="0"/>
              <a:t>2018/3/28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F177FC9-341F-42BC-B6B9-20EA2BB11FCE}" type="slidenum">
              <a:rPr lang="zh-CN" altLang="en-US" smtClean="0"/>
              <a:t>‹#›</a:t>
            </a:fld>
            <a:endParaRPr lang="zh-CN" altLang="en-US"/>
          </a:p>
        </p:txBody>
      </p:sp>
    </p:spTree>
    <p:extLst>
      <p:ext uri="{BB962C8B-B14F-4D97-AF65-F5344CB8AC3E}">
        <p14:creationId xmlns:p14="http://schemas.microsoft.com/office/powerpoint/2010/main" val="1914672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21D7CEF3-1476-497B-BC32-2777A3BB047F}" type="datetimeFigureOut">
              <a:rPr lang="zh-CN" altLang="en-US" smtClean="0"/>
              <a:t>2018/3/28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F177FC9-341F-42BC-B6B9-20EA2BB11FCE}" type="slidenum">
              <a:rPr lang="zh-CN" altLang="en-US" smtClean="0"/>
              <a:t>‹#›</a:t>
            </a:fld>
            <a:endParaRPr lang="zh-CN" altLang="en-US"/>
          </a:p>
        </p:txBody>
      </p:sp>
    </p:spTree>
    <p:extLst>
      <p:ext uri="{BB962C8B-B14F-4D97-AF65-F5344CB8AC3E}">
        <p14:creationId xmlns:p14="http://schemas.microsoft.com/office/powerpoint/2010/main" val="3413918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21D7CEF3-1476-497B-BC32-2777A3BB047F}" type="datetimeFigureOut">
              <a:rPr lang="zh-CN" altLang="en-US" smtClean="0"/>
              <a:t>2018/3/28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F177FC9-341F-42BC-B6B9-20EA2BB11FCE}" type="slidenum">
              <a:rPr lang="zh-CN" altLang="en-US" smtClean="0"/>
              <a:t>‹#›</a:t>
            </a:fld>
            <a:endParaRPr lang="zh-CN" altLang="en-US"/>
          </a:p>
        </p:txBody>
      </p:sp>
    </p:spTree>
    <p:extLst>
      <p:ext uri="{BB962C8B-B14F-4D97-AF65-F5344CB8AC3E}">
        <p14:creationId xmlns:p14="http://schemas.microsoft.com/office/powerpoint/2010/main" val="31971858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1D7CEF3-1476-497B-BC32-2777A3BB047F}" type="datetimeFigureOut">
              <a:rPr lang="zh-CN" altLang="en-US" smtClean="0"/>
              <a:t>2018/3/28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F177FC9-341F-42BC-B6B9-20EA2BB11FCE}" type="slidenum">
              <a:rPr lang="zh-CN" altLang="en-US" smtClean="0"/>
              <a:t>‹#›</a:t>
            </a:fld>
            <a:endParaRPr lang="zh-CN" altLang="en-US"/>
          </a:p>
        </p:txBody>
      </p:sp>
    </p:spTree>
    <p:extLst>
      <p:ext uri="{BB962C8B-B14F-4D97-AF65-F5344CB8AC3E}">
        <p14:creationId xmlns:p14="http://schemas.microsoft.com/office/powerpoint/2010/main" val="35754528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1D7CEF3-1476-497B-BC32-2777A3BB047F}" type="datetimeFigureOut">
              <a:rPr lang="zh-CN" altLang="en-US" smtClean="0"/>
              <a:t>2018/3/28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F177FC9-341F-42BC-B6B9-20EA2BB11FCE}" type="slidenum">
              <a:rPr lang="zh-CN" altLang="en-US" smtClean="0"/>
              <a:t>‹#›</a:t>
            </a:fld>
            <a:endParaRPr lang="zh-CN" altLang="en-US"/>
          </a:p>
        </p:txBody>
      </p:sp>
    </p:spTree>
    <p:extLst>
      <p:ext uri="{BB962C8B-B14F-4D97-AF65-F5344CB8AC3E}">
        <p14:creationId xmlns:p14="http://schemas.microsoft.com/office/powerpoint/2010/main" val="4019092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D7CEF3-1476-497B-BC32-2777A3BB047F}" type="datetimeFigureOut">
              <a:rPr lang="zh-CN" altLang="en-US" smtClean="0"/>
              <a:t>2018/3/28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177FC9-341F-42BC-B6B9-20EA2BB11FCE}" type="slidenum">
              <a:rPr lang="zh-CN" altLang="en-US" smtClean="0"/>
              <a:t>‹#›</a:t>
            </a:fld>
            <a:endParaRPr lang="zh-CN" altLang="en-US"/>
          </a:p>
        </p:txBody>
      </p:sp>
    </p:spTree>
    <p:extLst>
      <p:ext uri="{BB962C8B-B14F-4D97-AF65-F5344CB8AC3E}">
        <p14:creationId xmlns:p14="http://schemas.microsoft.com/office/powerpoint/2010/main" val="30772398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210235" y="833716"/>
            <a:ext cx="1107996" cy="923330"/>
          </a:xfrm>
          <a:prstGeom prst="rect">
            <a:avLst/>
          </a:prstGeom>
          <a:noFill/>
        </p:spPr>
        <p:txBody>
          <a:bodyPr wrap="none" rtlCol="0">
            <a:spAutoFit/>
          </a:bodyPr>
          <a:lstStyle/>
          <a:p>
            <a:r>
              <a:rPr lang="zh-CN" altLang="en-US" dirty="0" smtClean="0"/>
              <a:t>超声</a:t>
            </a:r>
            <a:endParaRPr lang="en-US" altLang="zh-CN" dirty="0" smtClean="0"/>
          </a:p>
          <a:p>
            <a:r>
              <a:rPr lang="zh-CN" altLang="en-US" dirty="0"/>
              <a:t>太</a:t>
            </a:r>
            <a:r>
              <a:rPr lang="zh-CN" altLang="en-US" dirty="0" smtClean="0"/>
              <a:t>赫兹</a:t>
            </a:r>
            <a:endParaRPr lang="en-US" altLang="zh-CN" dirty="0" smtClean="0"/>
          </a:p>
          <a:p>
            <a:r>
              <a:rPr lang="zh-CN" altLang="en-US" dirty="0" smtClean="0"/>
              <a:t>中子成像</a:t>
            </a:r>
            <a:endParaRPr lang="zh-CN" altLang="en-US" dirty="0"/>
          </a:p>
        </p:txBody>
      </p:sp>
    </p:spTree>
    <p:extLst>
      <p:ext uri="{BB962C8B-B14F-4D97-AF65-F5344CB8AC3E}">
        <p14:creationId xmlns:p14="http://schemas.microsoft.com/office/powerpoint/2010/main" val="25566885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39270" y="294092"/>
            <a:ext cx="10883154" cy="3416320"/>
          </a:xfrm>
          <a:prstGeom prst="rect">
            <a:avLst/>
          </a:prstGeom>
        </p:spPr>
        <p:txBody>
          <a:bodyPr wrap="square">
            <a:spAutoFit/>
          </a:bodyPr>
          <a:lstStyle/>
          <a:p>
            <a:r>
              <a:rPr lang="en-US" altLang="zh-CN" dirty="0"/>
              <a:t>Saint-Michel, Brice, et al. "Simultaneous concentration and velocity maps in particle suspensions under shear from </a:t>
            </a:r>
            <a:r>
              <a:rPr lang="en-US" altLang="zh-CN" dirty="0" err="1"/>
              <a:t>rheo</a:t>
            </a:r>
            <a:r>
              <a:rPr lang="en-US" altLang="zh-CN" dirty="0"/>
              <a:t>-ultrasonic imaging." </a:t>
            </a:r>
            <a:r>
              <a:rPr lang="en-US" altLang="zh-CN" i="1" dirty="0"/>
              <a:t>Physical Review Applied</a:t>
            </a:r>
            <a:r>
              <a:rPr lang="en-US" altLang="zh-CN" dirty="0"/>
              <a:t> 8.1 (2017): 014023</a:t>
            </a:r>
            <a:r>
              <a:rPr lang="en-US" altLang="zh-CN" dirty="0" smtClean="0"/>
              <a:t>.</a:t>
            </a:r>
          </a:p>
          <a:p>
            <a:r>
              <a:rPr lang="zh-CN" altLang="en-US" dirty="0" smtClean="0">
                <a:solidFill>
                  <a:srgbClr val="000000"/>
                </a:solidFill>
                <a:latin typeface="Microsoft YaHei" panose="020B0503020204020204" pitchFamily="34" charset="-122"/>
                <a:ea typeface="Microsoft YaHei" panose="020B0503020204020204" pitchFamily="34" charset="-122"/>
              </a:rPr>
              <a:t>将超快超声波技术扩展到剪切下非布朗粒子悬浮液中的浓度场测量。该技术可以同时获取</a:t>
            </a:r>
            <a:r>
              <a:rPr lang="en-US" altLang="zh-CN" dirty="0" smtClean="0">
                <a:solidFill>
                  <a:srgbClr val="000000"/>
                </a:solidFill>
                <a:latin typeface="Microsoft YaHei" panose="020B0503020204020204" pitchFamily="34" charset="-122"/>
                <a:ea typeface="Microsoft YaHei" panose="020B0503020204020204" pitchFamily="34" charset="-122"/>
              </a:rPr>
              <a:t>Taylor-</a:t>
            </a:r>
            <a:r>
              <a:rPr lang="en-US" altLang="zh-CN" dirty="0" err="1" smtClean="0">
                <a:solidFill>
                  <a:srgbClr val="000000"/>
                </a:solidFill>
                <a:latin typeface="Microsoft YaHei" panose="020B0503020204020204" pitchFamily="34" charset="-122"/>
                <a:ea typeface="Microsoft YaHei" panose="020B0503020204020204" pitchFamily="34" charset="-122"/>
              </a:rPr>
              <a:t>Couette</a:t>
            </a:r>
            <a:r>
              <a:rPr lang="zh-CN" altLang="en-US" dirty="0" smtClean="0">
                <a:solidFill>
                  <a:srgbClr val="000000"/>
                </a:solidFill>
                <a:latin typeface="Microsoft YaHei" panose="020B0503020204020204" pitchFamily="34" charset="-122"/>
                <a:ea typeface="Microsoft YaHei" panose="020B0503020204020204" pitchFamily="34" charset="-122"/>
              </a:rPr>
              <a:t>单元间隙内时间分辨的浓度图，以及局部速度测量和标准流变特性。该系统用均值颗粒悬浮液中的基准实验进行了校准。然后，又对由离心效应，经典</a:t>
            </a:r>
            <a:r>
              <a:rPr lang="en-US" altLang="zh-CN" dirty="0" smtClean="0"/>
              <a:t>Taylor-</a:t>
            </a:r>
            <a:r>
              <a:rPr lang="en-US" altLang="zh-CN" dirty="0" err="1" smtClean="0"/>
              <a:t>Couette</a:t>
            </a:r>
            <a:r>
              <a:rPr lang="zh-CN" altLang="en-US" dirty="0">
                <a:solidFill>
                  <a:srgbClr val="000000"/>
                </a:solidFill>
                <a:latin typeface="Microsoft YaHei" panose="020B0503020204020204" pitchFamily="34" charset="-122"/>
                <a:ea typeface="Microsoft YaHei" panose="020B0503020204020204" pitchFamily="34" charset="-122"/>
              </a:rPr>
              <a:t>不稳定性</a:t>
            </a:r>
            <a:r>
              <a:rPr lang="zh-CN" altLang="en-US" dirty="0" smtClean="0">
                <a:solidFill>
                  <a:srgbClr val="000000"/>
                </a:solidFill>
                <a:latin typeface="Microsoft YaHei" panose="020B0503020204020204" pitchFamily="34" charset="-122"/>
                <a:ea typeface="Microsoft YaHei" panose="020B0503020204020204" pitchFamily="34" charset="-122"/>
              </a:rPr>
              <a:t>以及沉降或剪切诱导再悬浮引起的异质浓度场进行了成像。</a:t>
            </a:r>
            <a:endParaRPr lang="en-US" altLang="zh-CN" dirty="0">
              <a:solidFill>
                <a:srgbClr val="000000"/>
              </a:solidFill>
              <a:latin typeface="Microsoft YaHei" panose="020B0503020204020204" pitchFamily="34" charset="-122"/>
              <a:ea typeface="Microsoft YaHei" panose="020B0503020204020204" pitchFamily="34" charset="-122"/>
            </a:endParaRPr>
          </a:p>
          <a:p>
            <a:r>
              <a:rPr lang="en-US" altLang="zh-CN" dirty="0"/>
              <a:t>We extend a previously developed ultrafast ultrasonic technique </a:t>
            </a:r>
            <a:r>
              <a:rPr lang="en-US" altLang="zh-CN" dirty="0" smtClean="0"/>
              <a:t>to </a:t>
            </a:r>
            <a:r>
              <a:rPr lang="en-US" altLang="zh-CN" dirty="0"/>
              <a:t>concentration-field measurements in non-Brownian particle suspensions under shear. The technique provides access to time-resolved concentration maps within the gap of a Taylor-</a:t>
            </a:r>
            <a:r>
              <a:rPr lang="en-US" altLang="zh-CN" dirty="0" err="1"/>
              <a:t>Couette</a:t>
            </a:r>
            <a:r>
              <a:rPr lang="en-US" altLang="zh-CN" dirty="0"/>
              <a:t> cell simultaneously to local velocity measurements and standard rheological characterization</a:t>
            </a:r>
            <a:r>
              <a:rPr lang="en-US" altLang="zh-CN" dirty="0" smtClean="0"/>
              <a:t>.</a:t>
            </a:r>
            <a:r>
              <a:rPr lang="en-US" altLang="zh-CN" dirty="0"/>
              <a:t> Benchmark experiments in homogeneous particle suspensions are used to calibrate the system. We then image heterogeneous concentration fields that result from centrifugation effects, from the classical Taylor-</a:t>
            </a:r>
            <a:r>
              <a:rPr lang="en-US" altLang="zh-CN" dirty="0" err="1"/>
              <a:t>Couette</a:t>
            </a:r>
            <a:r>
              <a:rPr lang="en-US" altLang="zh-CN" dirty="0"/>
              <a:t> instability, and from sedimentation or shear-induced </a:t>
            </a:r>
            <a:r>
              <a:rPr lang="en-US" altLang="zh-CN" dirty="0" err="1"/>
              <a:t>resuspension</a:t>
            </a:r>
            <a:r>
              <a:rPr lang="en-US" altLang="zh-CN" smtClean="0"/>
              <a:t>.</a:t>
            </a:r>
            <a:endParaRPr lang="en-US" altLang="zh-CN" i="0" dirty="0">
              <a:solidFill>
                <a:srgbClr val="000000"/>
              </a:solidFill>
              <a:effectLs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588424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60294" y="1101683"/>
            <a:ext cx="10883154" cy="2585323"/>
          </a:xfrm>
          <a:prstGeom prst="rect">
            <a:avLst/>
          </a:prstGeom>
        </p:spPr>
        <p:txBody>
          <a:bodyPr wrap="square">
            <a:spAutoFit/>
          </a:bodyPr>
          <a:lstStyle/>
          <a:p>
            <a:r>
              <a:rPr lang="en-US" altLang="zh-CN" dirty="0" err="1"/>
              <a:t>Hoegh</a:t>
            </a:r>
            <a:r>
              <a:rPr lang="en-US" altLang="zh-CN" dirty="0"/>
              <a:t>, Kyle, and Lev </a:t>
            </a:r>
            <a:r>
              <a:rPr lang="en-US" altLang="zh-CN" dirty="0" err="1"/>
              <a:t>Khazanovich</a:t>
            </a:r>
            <a:r>
              <a:rPr lang="en-US" altLang="zh-CN" dirty="0"/>
              <a:t>. "Extended synthetic aperture focusing technique for ultrasonic imaging of concrete." </a:t>
            </a:r>
            <a:r>
              <a:rPr lang="en-US" altLang="zh-CN" i="1" dirty="0"/>
              <a:t>NDT &amp; E International</a:t>
            </a:r>
            <a:r>
              <a:rPr lang="en-US" altLang="zh-CN" dirty="0"/>
              <a:t> 74 (2015): 33-42</a:t>
            </a:r>
            <a:r>
              <a:rPr lang="en-US" altLang="zh-CN" dirty="0" smtClean="0"/>
              <a:t>.</a:t>
            </a:r>
          </a:p>
          <a:p>
            <a:r>
              <a:rPr lang="zh-CN" altLang="en-US" b="0" i="0" dirty="0" smtClean="0">
                <a:solidFill>
                  <a:srgbClr val="505050"/>
                </a:solidFill>
                <a:effectLst/>
                <a:latin typeface="Arial" panose="020B0604020202020204" pitchFamily="34" charset="0"/>
              </a:rPr>
              <a:t>通过对线性阵列超声系统进行扩展重建，实现了波特兰水泥混凝土结构中缺陷和夹杂物的定量无损表征。该方法是通过推广传统的基尔霍夫合成孔径聚焦技术以减轻有限孔径的影响和将多个扫描作为具有增加的有效孔径的单个虚拟阵列处理来实现的。</a:t>
            </a:r>
            <a:endParaRPr lang="en-US" altLang="zh-CN" b="0" i="0" dirty="0" smtClean="0">
              <a:solidFill>
                <a:srgbClr val="505050"/>
              </a:solidFill>
              <a:effectLst/>
              <a:latin typeface="Arial" panose="020B0604020202020204" pitchFamily="34" charset="0"/>
            </a:endParaRPr>
          </a:p>
          <a:p>
            <a:r>
              <a:rPr lang="en-US" altLang="zh-CN" dirty="0"/>
              <a:t>Quantitative nondestructive characterization of defects and inclusions in </a:t>
            </a:r>
            <a:r>
              <a:rPr lang="en-US" altLang="zh-CN" dirty="0" err="1"/>
              <a:t>portland</a:t>
            </a:r>
            <a:r>
              <a:rPr lang="en-US" altLang="zh-CN" dirty="0"/>
              <a:t> cement concrete structures are realized in this paper via extended reconstructions for linear array ultrasound systems. This is accomplished through generalization of traditional Kirchhoff-based synthetic aperture focusing technique migration to mitigate the effects of limited aperture and handle multiple scans as a single virtual array with increased effective aperture.</a:t>
            </a:r>
            <a:endParaRPr lang="en-US" altLang="zh-CN" b="0" i="0" dirty="0">
              <a:solidFill>
                <a:srgbClr val="505050"/>
              </a:solidFill>
              <a:effectLst/>
              <a:latin typeface="Arial" panose="020B0604020202020204" pitchFamily="34" charset="0"/>
            </a:endParaRPr>
          </a:p>
        </p:txBody>
      </p:sp>
    </p:spTree>
    <p:extLst>
      <p:ext uri="{BB962C8B-B14F-4D97-AF65-F5344CB8AC3E}">
        <p14:creationId xmlns:p14="http://schemas.microsoft.com/office/powerpoint/2010/main" val="1049367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034747" y="733124"/>
            <a:ext cx="10116671" cy="2585323"/>
          </a:xfrm>
          <a:prstGeom prst="rect">
            <a:avLst/>
          </a:prstGeom>
        </p:spPr>
        <p:txBody>
          <a:bodyPr wrap="square">
            <a:spAutoFit/>
          </a:bodyPr>
          <a:lstStyle/>
          <a:p>
            <a:r>
              <a:rPr lang="en-US" altLang="zh-CN" b="0" i="0" dirty="0" smtClean="0">
                <a:solidFill>
                  <a:srgbClr val="222222"/>
                </a:solidFill>
                <a:effectLst/>
                <a:latin typeface="Arial" panose="020B0604020202020204" pitchFamily="34" charset="0"/>
              </a:rPr>
              <a:t>Hu, </a:t>
            </a:r>
            <a:r>
              <a:rPr lang="en-US" altLang="zh-CN" b="0" i="0" dirty="0" err="1" smtClean="0">
                <a:solidFill>
                  <a:srgbClr val="222222"/>
                </a:solidFill>
                <a:effectLst/>
                <a:latin typeface="Arial" panose="020B0604020202020204" pitchFamily="34" charset="0"/>
              </a:rPr>
              <a:t>Yanguo</a:t>
            </a:r>
            <a:r>
              <a:rPr lang="en-US" altLang="zh-CN" b="0" i="0" dirty="0" smtClean="0">
                <a:solidFill>
                  <a:srgbClr val="222222"/>
                </a:solidFill>
                <a:effectLst/>
                <a:latin typeface="Arial" panose="020B0604020202020204" pitchFamily="34" charset="0"/>
              </a:rPr>
              <a:t>, </a:t>
            </a:r>
            <a:r>
              <a:rPr lang="en-US" altLang="zh-CN" b="0" i="0" dirty="0" err="1" smtClean="0">
                <a:solidFill>
                  <a:srgbClr val="222222"/>
                </a:solidFill>
                <a:effectLst/>
                <a:latin typeface="Arial" panose="020B0604020202020204" pitchFamily="34" charset="0"/>
              </a:rPr>
              <a:t>Yaying</a:t>
            </a:r>
            <a:r>
              <a:rPr lang="en-US" altLang="zh-CN" b="0" i="0" dirty="0" smtClean="0">
                <a:solidFill>
                  <a:srgbClr val="222222"/>
                </a:solidFill>
                <a:effectLst/>
                <a:latin typeface="Arial" panose="020B0604020202020204" pitchFamily="34" charset="0"/>
              </a:rPr>
              <a:t> Zhao, and Dean Fu. "Study on Fat and Thin Analysis of Tongue Body Based on Two-Dimensional Ultrasonic Imaging." </a:t>
            </a:r>
            <a:r>
              <a:rPr lang="en-US" altLang="zh-CN" b="0" i="1" dirty="0" smtClean="0">
                <a:solidFill>
                  <a:srgbClr val="222222"/>
                </a:solidFill>
                <a:effectLst/>
                <a:latin typeface="Arial" panose="020B0604020202020204" pitchFamily="34" charset="0"/>
              </a:rPr>
              <a:t>Medical Imaging Process &amp; Technology</a:t>
            </a:r>
            <a:r>
              <a:rPr lang="en-US" altLang="zh-CN" b="0" i="0" dirty="0" smtClean="0">
                <a:solidFill>
                  <a:srgbClr val="222222"/>
                </a:solidFill>
                <a:effectLst/>
                <a:latin typeface="Arial" panose="020B0604020202020204" pitchFamily="34" charset="0"/>
              </a:rPr>
              <a:t>1.1 (2018).</a:t>
            </a:r>
            <a:endParaRPr lang="en-US" altLang="zh-CN" dirty="0">
              <a:solidFill>
                <a:srgbClr val="222222"/>
              </a:solidFill>
              <a:latin typeface="Arial" panose="020B0604020202020204" pitchFamily="34" charset="0"/>
            </a:endParaRPr>
          </a:p>
          <a:p>
            <a:r>
              <a:rPr lang="zh-CN" altLang="en-US" dirty="0" smtClean="0">
                <a:solidFill>
                  <a:srgbClr val="222222"/>
                </a:solidFill>
                <a:latin typeface="Arial" panose="020B0604020202020204" pitchFamily="34" charset="0"/>
              </a:rPr>
              <a:t>使用二维超声成像建立了一套用超声波测量舌头大小的方法。测量参数包括舌头的两个纵向平面和横截面。从这些数据，整体分析了舌形的大小。</a:t>
            </a:r>
            <a:endParaRPr lang="en-US" altLang="zh-CN" dirty="0" smtClean="0">
              <a:solidFill>
                <a:srgbClr val="222222"/>
              </a:solidFill>
              <a:latin typeface="Arial" panose="020B0604020202020204" pitchFamily="34" charset="0"/>
            </a:endParaRPr>
          </a:p>
          <a:p>
            <a:r>
              <a:rPr lang="en-US" altLang="zh-CN" dirty="0"/>
              <a:t>At the same time, a tongue-sized measurement method is introduced. Two-dimensional ultrasound imaging is used as a means of inspection to establish a set of ultrasonic tongue-sized measurement methods. The measured parameters include the two longitudinal planes of the tongue and the cross-section of the tongue. Out of the tongue size of the data, the overall analysis of the size of the tongue shape. </a:t>
            </a:r>
            <a:endParaRPr lang="zh-CN" altLang="en-US" dirty="0"/>
          </a:p>
        </p:txBody>
      </p:sp>
    </p:spTree>
    <p:extLst>
      <p:ext uri="{BB962C8B-B14F-4D97-AF65-F5344CB8AC3E}">
        <p14:creationId xmlns:p14="http://schemas.microsoft.com/office/powerpoint/2010/main" val="2111507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56129" y="861536"/>
            <a:ext cx="10372165" cy="4524315"/>
          </a:xfrm>
          <a:prstGeom prst="rect">
            <a:avLst/>
          </a:prstGeom>
        </p:spPr>
        <p:txBody>
          <a:bodyPr wrap="square">
            <a:spAutoFit/>
          </a:bodyPr>
          <a:lstStyle/>
          <a:p>
            <a:r>
              <a:rPr lang="en-US" altLang="zh-CN" b="0" i="0" dirty="0" smtClean="0">
                <a:solidFill>
                  <a:srgbClr val="222222"/>
                </a:solidFill>
                <a:effectLst/>
                <a:latin typeface="Arial" panose="020B0604020202020204" pitchFamily="34" charset="0"/>
              </a:rPr>
              <a:t>Dong, </a:t>
            </a:r>
            <a:r>
              <a:rPr lang="en-US" altLang="zh-CN" b="0" i="0" dirty="0" err="1" smtClean="0">
                <a:solidFill>
                  <a:srgbClr val="222222"/>
                </a:solidFill>
                <a:effectLst/>
                <a:latin typeface="Arial" panose="020B0604020202020204" pitchFamily="34" charset="0"/>
              </a:rPr>
              <a:t>Junliang</a:t>
            </a:r>
            <a:r>
              <a:rPr lang="en-US" altLang="zh-CN" b="0" i="0" dirty="0" smtClean="0">
                <a:solidFill>
                  <a:srgbClr val="222222"/>
                </a:solidFill>
                <a:effectLst/>
                <a:latin typeface="Arial" panose="020B0604020202020204" pitchFamily="34" charset="0"/>
              </a:rPr>
              <a:t>, et al. "Polarization-resolved terahertz imaging of intra-and inter-laminar damages in hybrid fiber-reinforced composite laminate subject to low-velocity impact." </a:t>
            </a:r>
            <a:r>
              <a:rPr lang="en-US" altLang="zh-CN" b="0" i="1" dirty="0" smtClean="0">
                <a:solidFill>
                  <a:srgbClr val="222222"/>
                </a:solidFill>
                <a:effectLst/>
                <a:latin typeface="Arial" panose="020B0604020202020204" pitchFamily="34" charset="0"/>
              </a:rPr>
              <a:t>Composites Part B: Engineering</a:t>
            </a:r>
            <a:r>
              <a:rPr lang="en-US" altLang="zh-CN" b="0" i="0" dirty="0" smtClean="0">
                <a:solidFill>
                  <a:srgbClr val="222222"/>
                </a:solidFill>
                <a:effectLst/>
                <a:latin typeface="Arial" panose="020B0604020202020204" pitchFamily="34" charset="0"/>
              </a:rPr>
              <a:t> 92 (2016): 167-174.</a:t>
            </a:r>
          </a:p>
          <a:p>
            <a:r>
              <a:rPr lang="zh-CN" altLang="en-US" b="0" i="0" dirty="0" smtClean="0">
                <a:solidFill>
                  <a:srgbClr val="222222"/>
                </a:solidFill>
                <a:effectLst/>
                <a:latin typeface="Arial" panose="020B0604020202020204" pitchFamily="34" charset="0"/>
              </a:rPr>
              <a:t>本文用太赫兹成像对受到低速冲击影响的混合纤维增强复合材料层压板进行了表征。成功检测到冲击诱发的层内和层间损伤，并在整个厚度上对损伤演变进行了评估。</a:t>
            </a:r>
            <a:r>
              <a:rPr lang="zh-CN" altLang="en-US" b="0" i="0" dirty="0" smtClean="0">
                <a:solidFill>
                  <a:srgbClr val="222222"/>
                </a:solidFill>
                <a:effectLst/>
                <a:latin typeface="Arial" panose="020B0604020202020204" pitchFamily="34" charset="0"/>
              </a:rPr>
              <a:t>通过偏振分辨成像来区分了</a:t>
            </a:r>
            <a:r>
              <a:rPr lang="zh-CN" altLang="en-US" b="0" i="0" dirty="0" smtClean="0">
                <a:solidFill>
                  <a:srgbClr val="222222"/>
                </a:solidFill>
                <a:effectLst/>
                <a:latin typeface="Arial" panose="020B0604020202020204" pitchFamily="34" charset="0"/>
              </a:rPr>
              <a:t>界面处的层间损伤和靠近相同界面的层内损伤。采用基于多元回归分析的参数拟合方法，定量表征了分层特征。太赫兹</a:t>
            </a:r>
            <a:r>
              <a:rPr lang="en-US" altLang="zh-CN" b="0" i="0" dirty="0" smtClean="0">
                <a:solidFill>
                  <a:srgbClr val="222222"/>
                </a:solidFill>
                <a:effectLst/>
                <a:latin typeface="Arial" panose="020B0604020202020204" pitchFamily="34" charset="0"/>
              </a:rPr>
              <a:t>C-</a:t>
            </a:r>
            <a:r>
              <a:rPr lang="zh-CN" altLang="en-US" b="0" i="0" dirty="0" smtClean="0">
                <a:solidFill>
                  <a:srgbClr val="222222"/>
                </a:solidFill>
                <a:effectLst/>
                <a:latin typeface="Arial" panose="020B0604020202020204" pitchFamily="34" charset="0"/>
              </a:rPr>
              <a:t>和</a:t>
            </a:r>
            <a:r>
              <a:rPr lang="en-US" altLang="zh-CN" b="0" i="0" dirty="0" smtClean="0">
                <a:solidFill>
                  <a:srgbClr val="222222"/>
                </a:solidFill>
                <a:effectLst/>
                <a:latin typeface="Arial" panose="020B0604020202020204" pitchFamily="34" charset="0"/>
              </a:rPr>
              <a:t>B-</a:t>
            </a:r>
            <a:r>
              <a:rPr lang="zh-CN" altLang="en-US" b="0" i="0" dirty="0" smtClean="0">
                <a:solidFill>
                  <a:srgbClr val="222222"/>
                </a:solidFill>
                <a:effectLst/>
                <a:latin typeface="Arial" panose="020B0604020202020204" pitchFamily="34" charset="0"/>
              </a:rPr>
              <a:t>扫描图像清楚地显示了三维从顶部到底部表面的损伤传播。</a:t>
            </a:r>
            <a:endParaRPr lang="en-US" altLang="zh-CN" b="0" i="0" dirty="0" smtClean="0">
              <a:solidFill>
                <a:srgbClr val="222222"/>
              </a:solidFill>
              <a:effectLst/>
              <a:latin typeface="Arial" panose="020B0604020202020204" pitchFamily="34" charset="0"/>
            </a:endParaRPr>
          </a:p>
          <a:p>
            <a:r>
              <a:rPr lang="en-US" altLang="zh-CN" dirty="0"/>
              <a:t>Terahertz imaging is applied to characterize a hybrid fiber-reinforced composite laminate subject to low-velocity impact in this study. The hybrid fiber-reinforced composite laminate comprises unidirectional glass/epoxy and carbon/epoxy plies with a cross-ply stack pattern. Both impact-induced intra- and inter-laminar damages are successfully detected, and the damage evolution throughout the thickness is also evaluated. The interaction between the terahertz polarization and carbon-fiber orientation is investigated in detail. Inter-laminar damage at the interface and the intra-laminar damage close to the same interface can be differentiated via polarization-resolved imaging. With a parameter fitting method based on multiple regression analysis, delamination is characterized quantitatively. Terahertz C- and B-scan images clearly exhibit the propagation of the damage from the top to the bottom surface in three dimensions.</a:t>
            </a:r>
            <a:endParaRPr lang="zh-CN" altLang="en-US" dirty="0"/>
          </a:p>
        </p:txBody>
      </p:sp>
    </p:spTree>
    <p:extLst>
      <p:ext uri="{BB962C8B-B14F-4D97-AF65-F5344CB8AC3E}">
        <p14:creationId xmlns:p14="http://schemas.microsoft.com/office/powerpoint/2010/main" val="4072391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40363" y="657739"/>
            <a:ext cx="10564484" cy="5355312"/>
          </a:xfrm>
          <a:prstGeom prst="rect">
            <a:avLst/>
          </a:prstGeom>
        </p:spPr>
        <p:txBody>
          <a:bodyPr wrap="square">
            <a:spAutoFit/>
          </a:bodyPr>
          <a:lstStyle/>
          <a:p>
            <a:r>
              <a:rPr lang="en-US" altLang="zh-CN" b="0" i="0" dirty="0" err="1" smtClean="0">
                <a:solidFill>
                  <a:srgbClr val="222222"/>
                </a:solidFill>
                <a:effectLst/>
                <a:latin typeface="Arial" panose="020B0604020202020204" pitchFamily="34" charset="0"/>
              </a:rPr>
              <a:t>Stantchev</a:t>
            </a:r>
            <a:r>
              <a:rPr lang="en-US" altLang="zh-CN" b="0" i="0" dirty="0" smtClean="0">
                <a:solidFill>
                  <a:srgbClr val="222222"/>
                </a:solidFill>
                <a:effectLst/>
                <a:latin typeface="Arial" panose="020B0604020202020204" pitchFamily="34" charset="0"/>
              </a:rPr>
              <a:t>, </a:t>
            </a:r>
            <a:r>
              <a:rPr lang="en-US" altLang="zh-CN" b="0" i="0" dirty="0" err="1" smtClean="0">
                <a:solidFill>
                  <a:srgbClr val="222222"/>
                </a:solidFill>
                <a:effectLst/>
                <a:latin typeface="Arial" panose="020B0604020202020204" pitchFamily="34" charset="0"/>
              </a:rPr>
              <a:t>Rayko</a:t>
            </a:r>
            <a:r>
              <a:rPr lang="en-US" altLang="zh-CN" b="0" i="0" dirty="0" smtClean="0">
                <a:solidFill>
                  <a:srgbClr val="222222"/>
                </a:solidFill>
                <a:effectLst/>
                <a:latin typeface="Arial" panose="020B0604020202020204" pitchFamily="34" charset="0"/>
              </a:rPr>
              <a:t> Ivanov, et al. "Noninvasive, near-field terahertz imaging of hidden objects using a single-pixel detector." </a:t>
            </a:r>
            <a:r>
              <a:rPr lang="en-US" altLang="zh-CN" b="0" i="1" dirty="0" smtClean="0">
                <a:solidFill>
                  <a:srgbClr val="222222"/>
                </a:solidFill>
                <a:effectLst/>
                <a:latin typeface="Arial" panose="020B0604020202020204" pitchFamily="34" charset="0"/>
              </a:rPr>
              <a:t>Science advances</a:t>
            </a:r>
            <a:r>
              <a:rPr lang="en-US" altLang="zh-CN" b="0" i="0" dirty="0" smtClean="0">
                <a:solidFill>
                  <a:srgbClr val="222222"/>
                </a:solidFill>
                <a:effectLst/>
                <a:latin typeface="Arial" panose="020B0604020202020204" pitchFamily="34" charset="0"/>
              </a:rPr>
              <a:t> 2.6 (2016): e1600190.</a:t>
            </a:r>
          </a:p>
          <a:p>
            <a:r>
              <a:rPr lang="zh-CN" altLang="en-US" dirty="0"/>
              <a:t>我们</a:t>
            </a:r>
            <a:r>
              <a:rPr lang="zh-CN" altLang="en-US" dirty="0" smtClean="0"/>
              <a:t>展示了具有亚波长分辨率的无创近场</a:t>
            </a:r>
            <a:r>
              <a:rPr lang="en-US" altLang="zh-CN" dirty="0" smtClean="0"/>
              <a:t>THz</a:t>
            </a:r>
            <a:r>
              <a:rPr lang="zh-CN" altLang="en-US" dirty="0" smtClean="0"/>
              <a:t>成像。我们将一个时变的，强烈的（</a:t>
            </a:r>
            <a:r>
              <a:rPr lang="en-US" altLang="zh-CN" dirty="0" smtClean="0"/>
              <a:t>&gt;100μJ/ cm2</a:t>
            </a:r>
            <a:r>
              <a:rPr lang="zh-CN" altLang="en-US" dirty="0" smtClean="0"/>
              <a:t>）光学图案投影到硅晶片上，该硅晶片在空间上调制太赫兹辐射的同步脉冲的传输。将未知物体放置在硅的隐藏侧上，并且通过单元探测器记录对应于每个掩模的远场</a:t>
            </a:r>
            <a:r>
              <a:rPr lang="en-US" altLang="zh-CN" dirty="0" smtClean="0"/>
              <a:t>THz</a:t>
            </a:r>
            <a:r>
              <a:rPr lang="zh-CN" altLang="en-US" dirty="0" smtClean="0"/>
              <a:t>透射。将图案和对应的检测器信号的知识组合起来以给出对象的图像。使用该技术，我们对一块在</a:t>
            </a:r>
            <a:r>
              <a:rPr lang="en-US" altLang="zh-CN" dirty="0" smtClean="0"/>
              <a:t>115μm</a:t>
            </a:r>
            <a:r>
              <a:rPr lang="zh-CN" altLang="en-US" dirty="0" smtClean="0"/>
              <a:t>厚的硅晶片下的印刷电路板进行了</a:t>
            </a:r>
            <a:r>
              <a:rPr lang="el-GR" altLang="zh-CN" dirty="0" smtClean="0"/>
              <a:t>〜100-μ</a:t>
            </a:r>
            <a:r>
              <a:rPr lang="en-US" altLang="zh-CN" dirty="0" smtClean="0"/>
              <a:t>m</a:t>
            </a:r>
            <a:r>
              <a:rPr lang="zh-CN" altLang="en-US" dirty="0" smtClean="0"/>
              <a:t>（</a:t>
            </a:r>
            <a:r>
              <a:rPr lang="el-GR" altLang="zh-CN" dirty="0" smtClean="0"/>
              <a:t>λ/ 4</a:t>
            </a:r>
            <a:r>
              <a:rPr lang="zh-CN" altLang="el-GR" dirty="0" smtClean="0"/>
              <a:t>）</a:t>
            </a:r>
            <a:r>
              <a:rPr lang="zh-CN" altLang="en-US" dirty="0" smtClean="0"/>
              <a:t>分辨率的成像。通过亚波长分辨率和对局部电导率的固有灵敏度，可以检测几微米尺寸的电路布线中的裂缝。</a:t>
            </a:r>
            <a:endParaRPr lang="en-US" altLang="zh-CN" dirty="0" smtClean="0"/>
          </a:p>
          <a:p>
            <a:r>
              <a:rPr lang="en-US" altLang="zh-CN" dirty="0"/>
              <a:t>Terahertz (THz) imaging can see through otherwise opaque materials. However, because of the long wavelengths of THz radiation (λ = 400 μm at 0.75 THz), far-field THz imaging techniques suffer from low resolution compared to visible wavelengths. We demonstrate noninvasive, near-field THz imaging with </a:t>
            </a:r>
            <a:r>
              <a:rPr lang="en-US" altLang="zh-CN" dirty="0" err="1"/>
              <a:t>subwavelength</a:t>
            </a:r>
            <a:r>
              <a:rPr lang="en-US" altLang="zh-CN" dirty="0"/>
              <a:t> resolution. We project a time-varying, intense (&gt;100 </a:t>
            </a:r>
            <a:r>
              <a:rPr lang="en-US" altLang="zh-CN" dirty="0" err="1"/>
              <a:t>μJ</a:t>
            </a:r>
            <a:r>
              <a:rPr lang="en-US" altLang="zh-CN" dirty="0"/>
              <a:t>/cm</a:t>
            </a:r>
            <a:r>
              <a:rPr lang="en-US" altLang="zh-CN" baseline="30000" dirty="0"/>
              <a:t>2</a:t>
            </a:r>
            <a:r>
              <a:rPr lang="en-US" altLang="zh-CN" dirty="0"/>
              <a:t>) optical pattern onto a silicon wafer, which spatially modulates the transmission of synchronous pulse of THz radiation. An unknown object is placed on the hidden side of the silicon, and the far-field THz transmission corresponding to each mask is recorded by a single-element detector. Knowledge of the patterns and of the corresponding detector signal are combined to give an image of the object. Using this technique, we image a printed circuit board on the underside of a 115-μm-thick silicon wafer with ~100-μm (λ/4) resolution. With </a:t>
            </a:r>
            <a:r>
              <a:rPr lang="en-US" altLang="zh-CN" dirty="0" err="1"/>
              <a:t>subwavelength</a:t>
            </a:r>
            <a:r>
              <a:rPr lang="en-US" altLang="zh-CN" dirty="0"/>
              <a:t> resolution and the inherent sensitivity to local conductivity, it is possible to detect fissures in the circuitry wiring of a few micrometers in size.</a:t>
            </a:r>
            <a:endParaRPr lang="zh-CN" altLang="en-US" dirty="0"/>
          </a:p>
        </p:txBody>
      </p:sp>
    </p:spTree>
    <p:extLst>
      <p:ext uri="{BB962C8B-B14F-4D97-AF65-F5344CB8AC3E}">
        <p14:creationId xmlns:p14="http://schemas.microsoft.com/office/powerpoint/2010/main" val="2137913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92306" y="654441"/>
            <a:ext cx="9269507" cy="3693319"/>
          </a:xfrm>
          <a:prstGeom prst="rect">
            <a:avLst/>
          </a:prstGeom>
        </p:spPr>
        <p:txBody>
          <a:bodyPr wrap="square">
            <a:spAutoFit/>
          </a:bodyPr>
          <a:lstStyle/>
          <a:p>
            <a:r>
              <a:rPr lang="en-US" altLang="zh-CN" b="0" i="0" dirty="0" smtClean="0">
                <a:solidFill>
                  <a:srgbClr val="222222"/>
                </a:solidFill>
                <a:effectLst/>
                <a:latin typeface="Arial" panose="020B0604020202020204" pitchFamily="34" charset="0"/>
              </a:rPr>
              <a:t>Yamaguchi, </a:t>
            </a:r>
            <a:r>
              <a:rPr lang="en-US" altLang="zh-CN" b="0" i="0" dirty="0" err="1" smtClean="0">
                <a:solidFill>
                  <a:srgbClr val="222222"/>
                </a:solidFill>
                <a:effectLst/>
                <a:latin typeface="Arial" panose="020B0604020202020204" pitchFamily="34" charset="0"/>
              </a:rPr>
              <a:t>Sayuri</a:t>
            </a:r>
            <a:r>
              <a:rPr lang="en-US" altLang="zh-CN" b="0" i="0" dirty="0" smtClean="0">
                <a:solidFill>
                  <a:srgbClr val="222222"/>
                </a:solidFill>
                <a:effectLst/>
                <a:latin typeface="Arial" panose="020B0604020202020204" pitchFamily="34" charset="0"/>
              </a:rPr>
              <a:t>, et al. "Brain tumor imaging of rat fresh tissue using terahertz spectroscopy." </a:t>
            </a:r>
            <a:r>
              <a:rPr lang="en-US" altLang="zh-CN" b="0" i="1" dirty="0" smtClean="0">
                <a:solidFill>
                  <a:srgbClr val="222222"/>
                </a:solidFill>
                <a:effectLst/>
                <a:latin typeface="Arial" panose="020B0604020202020204" pitchFamily="34" charset="0"/>
              </a:rPr>
              <a:t>Scientific reports</a:t>
            </a:r>
            <a:r>
              <a:rPr lang="en-US" altLang="zh-CN" b="0" i="0" dirty="0" smtClean="0">
                <a:solidFill>
                  <a:srgbClr val="222222"/>
                </a:solidFill>
                <a:effectLst/>
                <a:latin typeface="Arial" panose="020B0604020202020204" pitchFamily="34" charset="0"/>
              </a:rPr>
              <a:t> 6 (2016): 30124.</a:t>
            </a:r>
          </a:p>
          <a:p>
            <a:r>
              <a:rPr lang="zh-CN" altLang="en-US" dirty="0" smtClean="0"/>
              <a:t>使用大鼠神经胶质瘤样品实现了利用太赫兹光谱对没有染色的新鲜组织进行的肿瘤成像。通过反射太赫兹时域光谱系统获得的复数折射率光谱可以区分正常组织和肿瘤组织。肿瘤组织的折射率和吸收系数均高于正常组织，可归因于肿瘤区域的细胞密度和含水量较高。这项研究的结果表明，太赫兹技术可用于检测脑肿瘤组织。</a:t>
            </a:r>
            <a:endParaRPr lang="en-US" altLang="zh-CN" dirty="0" smtClean="0"/>
          </a:p>
          <a:p>
            <a:r>
              <a:rPr lang="en-US" altLang="zh-CN" dirty="0" smtClean="0"/>
              <a:t>Tumor imaging by terahertz spectroscopy of fresh tissue without dye is demonstrated using samples from a rat </a:t>
            </a:r>
            <a:r>
              <a:rPr lang="en-US" altLang="zh-CN" dirty="0" err="1" smtClean="0"/>
              <a:t>glioma</a:t>
            </a:r>
            <a:r>
              <a:rPr lang="en-US" altLang="zh-CN" dirty="0" smtClean="0"/>
              <a:t> model. The complex refractive index spectrum obtained by a reflection terahertz time-domain spectroscopy system can discriminate between normal and tumor tissues. Both the refractive index and absorption coefficient of tumor tissues are higher than those of normal tissues and can be attributed to the higher cell density and water content of the tumor region. The results of this study indicate that terahertz technology is useful for detecting brain tumor tissue.</a:t>
            </a:r>
            <a:endParaRPr lang="zh-CN" altLang="en-US" dirty="0"/>
          </a:p>
        </p:txBody>
      </p:sp>
    </p:spTree>
    <p:extLst>
      <p:ext uri="{BB962C8B-B14F-4D97-AF65-F5344CB8AC3E}">
        <p14:creationId xmlns:p14="http://schemas.microsoft.com/office/powerpoint/2010/main" val="1914697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08212" y="610072"/>
            <a:ext cx="10493188" cy="2862322"/>
          </a:xfrm>
          <a:prstGeom prst="rect">
            <a:avLst/>
          </a:prstGeom>
        </p:spPr>
        <p:txBody>
          <a:bodyPr wrap="square">
            <a:spAutoFit/>
          </a:bodyPr>
          <a:lstStyle/>
          <a:p>
            <a:r>
              <a:rPr lang="en-US" altLang="zh-CN" b="0" i="0" dirty="0" err="1" smtClean="0">
                <a:solidFill>
                  <a:srgbClr val="222222"/>
                </a:solidFill>
                <a:effectLst/>
                <a:latin typeface="Arial" panose="020B0604020202020204" pitchFamily="34" charset="0"/>
              </a:rPr>
              <a:t>Hendriks</a:t>
            </a:r>
            <a:r>
              <a:rPr lang="en-US" altLang="zh-CN" b="0" i="0" dirty="0" smtClean="0">
                <a:solidFill>
                  <a:srgbClr val="222222"/>
                </a:solidFill>
                <a:effectLst/>
                <a:latin typeface="Arial" panose="020B0604020202020204" pitchFamily="34" charset="0"/>
              </a:rPr>
              <a:t>, J. N., et al. "Bragg-edge elastic strain tomography for in situ systems from energy-resolved neutron transmission imaging." </a:t>
            </a:r>
            <a:r>
              <a:rPr lang="en-US" altLang="zh-CN" b="0" i="1" dirty="0" smtClean="0">
                <a:solidFill>
                  <a:srgbClr val="222222"/>
                </a:solidFill>
                <a:effectLst/>
                <a:latin typeface="Arial" panose="020B0604020202020204" pitchFamily="34" charset="0"/>
              </a:rPr>
              <a:t>Physical Review Materials</a:t>
            </a:r>
            <a:r>
              <a:rPr lang="en-US" altLang="zh-CN" b="0" i="0" dirty="0" smtClean="0">
                <a:solidFill>
                  <a:srgbClr val="222222"/>
                </a:solidFill>
                <a:effectLst/>
                <a:latin typeface="Arial" panose="020B0604020202020204" pitchFamily="34" charset="0"/>
              </a:rPr>
              <a:t> 1.5 (2017): 053802.</a:t>
            </a:r>
          </a:p>
          <a:p>
            <a:r>
              <a:rPr lang="zh-CN" altLang="en-US" dirty="0" smtClean="0"/>
              <a:t>最近的工作提供了一种算法来实现对没有残余应力的情况下受到原位荷载的系统的断层重建。本文通过对一个钢样品双轴应变场的完全重建从实验上验证了该算法。除了个别测量中出现的小系统误差外，该实验取得了成功并可作为对原位加载的</a:t>
            </a:r>
            <a:r>
              <a:rPr lang="en-US" altLang="zh-CN" dirty="0" smtClean="0"/>
              <a:t>Bragg-edge</a:t>
            </a:r>
            <a:r>
              <a:rPr lang="zh-CN" altLang="en-US" dirty="0" smtClean="0"/>
              <a:t>传输应变断层扫描的实际演示。</a:t>
            </a:r>
            <a:endParaRPr lang="en-US" altLang="zh-CN" dirty="0" smtClean="0"/>
          </a:p>
          <a:p>
            <a:r>
              <a:rPr lang="en-US" altLang="zh-CN" dirty="0" smtClean="0"/>
              <a:t>Recent </a:t>
            </a:r>
            <a:r>
              <a:rPr lang="en-US" altLang="zh-CN" dirty="0"/>
              <a:t>work has provided an algorithm to achieve tomographic reconstruction for systems subject to </a:t>
            </a:r>
            <a:r>
              <a:rPr lang="en-US" altLang="zh-CN" i="1" dirty="0"/>
              <a:t>in situ</a:t>
            </a:r>
            <a:r>
              <a:rPr lang="en-US" altLang="zh-CN" dirty="0"/>
              <a:t> loads in the absence of residual stress. This paper details an experimental proof of concept for this algorithm involving the full reconstruction of a biaxial strain field within a nontrivial steel sample. Aside from a small systematic error present within individual measurements, the experiment was a success and now serves as a practical demonstration of Bragg-edge transmission strain tomography for systems under </a:t>
            </a:r>
            <a:r>
              <a:rPr lang="en-US" altLang="zh-CN" i="1" dirty="0"/>
              <a:t>in situ</a:t>
            </a:r>
            <a:r>
              <a:rPr lang="en-US" altLang="zh-CN" dirty="0"/>
              <a:t> loads.</a:t>
            </a:r>
            <a:endParaRPr lang="zh-CN" altLang="en-US" dirty="0"/>
          </a:p>
        </p:txBody>
      </p:sp>
    </p:spTree>
    <p:extLst>
      <p:ext uri="{BB962C8B-B14F-4D97-AF65-F5344CB8AC3E}">
        <p14:creationId xmlns:p14="http://schemas.microsoft.com/office/powerpoint/2010/main" val="851894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21658" y="704201"/>
            <a:ext cx="10748683" cy="4247317"/>
          </a:xfrm>
          <a:prstGeom prst="rect">
            <a:avLst/>
          </a:prstGeom>
        </p:spPr>
        <p:txBody>
          <a:bodyPr wrap="square">
            <a:spAutoFit/>
          </a:bodyPr>
          <a:lstStyle/>
          <a:p>
            <a:r>
              <a:rPr lang="en-US" altLang="zh-CN" b="0" i="0" dirty="0" err="1" smtClean="0">
                <a:solidFill>
                  <a:srgbClr val="222222"/>
                </a:solidFill>
                <a:effectLst/>
                <a:latin typeface="Arial" panose="020B0604020202020204" pitchFamily="34" charset="0"/>
              </a:rPr>
              <a:t>Tudisco</a:t>
            </a:r>
            <a:r>
              <a:rPr lang="en-US" altLang="zh-CN" b="0" i="0" dirty="0" smtClean="0">
                <a:solidFill>
                  <a:srgbClr val="222222"/>
                </a:solidFill>
                <a:effectLst/>
                <a:latin typeface="Arial" panose="020B0604020202020204" pitchFamily="34" charset="0"/>
              </a:rPr>
              <a:t>, Erika, et al. "Full-field measurements of strain </a:t>
            </a:r>
            <a:r>
              <a:rPr lang="en-US" altLang="zh-CN" b="0" i="0" dirty="0" err="1" smtClean="0">
                <a:solidFill>
                  <a:srgbClr val="222222"/>
                </a:solidFill>
                <a:effectLst/>
                <a:latin typeface="Arial" panose="020B0604020202020204" pitchFamily="34" charset="0"/>
              </a:rPr>
              <a:t>localisation</a:t>
            </a:r>
            <a:r>
              <a:rPr lang="en-US" altLang="zh-CN" b="0" i="0" dirty="0" smtClean="0">
                <a:solidFill>
                  <a:srgbClr val="222222"/>
                </a:solidFill>
                <a:effectLst/>
                <a:latin typeface="Arial" panose="020B0604020202020204" pitchFamily="34" charset="0"/>
              </a:rPr>
              <a:t> in sandstone by neutron tomography and 3D-volumetric digital image correlation." </a:t>
            </a:r>
            <a:r>
              <a:rPr lang="en-US" altLang="zh-CN" b="0" i="1" dirty="0" smtClean="0">
                <a:solidFill>
                  <a:srgbClr val="222222"/>
                </a:solidFill>
                <a:effectLst/>
                <a:latin typeface="Arial" panose="020B0604020202020204" pitchFamily="34" charset="0"/>
              </a:rPr>
              <a:t>Physics </a:t>
            </a:r>
            <a:r>
              <a:rPr lang="en-US" altLang="zh-CN" b="0" i="1" dirty="0" err="1" smtClean="0">
                <a:solidFill>
                  <a:srgbClr val="222222"/>
                </a:solidFill>
                <a:effectLst/>
                <a:latin typeface="Arial" panose="020B0604020202020204" pitchFamily="34" charset="0"/>
              </a:rPr>
              <a:t>Procedia</a:t>
            </a:r>
            <a:r>
              <a:rPr lang="en-US" altLang="zh-CN" b="0" i="0" dirty="0" smtClean="0">
                <a:solidFill>
                  <a:srgbClr val="222222"/>
                </a:solidFill>
                <a:effectLst/>
                <a:latin typeface="Arial" panose="020B0604020202020204" pitchFamily="34" charset="0"/>
              </a:rPr>
              <a:t> 69 (2015): 509-515.</a:t>
            </a:r>
          </a:p>
          <a:p>
            <a:r>
              <a:rPr lang="zh-CN" altLang="en-US" dirty="0" smtClean="0">
                <a:solidFill>
                  <a:srgbClr val="222222"/>
                </a:solidFill>
                <a:latin typeface="Arial" panose="020B0604020202020204" pitchFamily="34" charset="0"/>
              </a:rPr>
              <a:t>本文评估了用</a:t>
            </a:r>
            <a:r>
              <a:rPr lang="en-US" altLang="zh-CN" dirty="0" smtClean="0">
                <a:solidFill>
                  <a:srgbClr val="222222"/>
                </a:solidFill>
                <a:latin typeface="Arial" panose="020B0604020202020204" pitchFamily="34" charset="0"/>
              </a:rPr>
              <a:t>3D-DIC</a:t>
            </a:r>
            <a:r>
              <a:rPr lang="zh-CN" altLang="en-US" dirty="0">
                <a:solidFill>
                  <a:srgbClr val="222222"/>
                </a:solidFill>
                <a:latin typeface="Arial" panose="020B0604020202020204" pitchFamily="34" charset="0"/>
              </a:rPr>
              <a:t>和</a:t>
            </a:r>
            <a:r>
              <a:rPr lang="zh-CN" altLang="en-US" dirty="0" smtClean="0">
                <a:solidFill>
                  <a:srgbClr val="222222"/>
                </a:solidFill>
                <a:latin typeface="Arial" panose="020B0604020202020204" pitchFamily="34" charset="0"/>
              </a:rPr>
              <a:t>中子断层成像测量岩石样品变形场的能力。在</a:t>
            </a:r>
            <a:r>
              <a:rPr lang="en-US" altLang="zh-CN" dirty="0" smtClean="0">
                <a:solidFill>
                  <a:srgbClr val="222222"/>
                </a:solidFill>
                <a:latin typeface="Arial" panose="020B0604020202020204" pitchFamily="34" charset="0"/>
              </a:rPr>
              <a:t>40 </a:t>
            </a:r>
            <a:r>
              <a:rPr lang="en-US" altLang="zh-CN" dirty="0" err="1" smtClean="0">
                <a:solidFill>
                  <a:srgbClr val="222222"/>
                </a:solidFill>
                <a:latin typeface="Arial" panose="020B0604020202020204" pitchFamily="34" charset="0"/>
              </a:rPr>
              <a:t>MPa</a:t>
            </a:r>
            <a:r>
              <a:rPr lang="zh-CN" altLang="en-US" dirty="0" smtClean="0">
                <a:solidFill>
                  <a:srgbClr val="222222"/>
                </a:solidFill>
                <a:latin typeface="Arial" panose="020B0604020202020204" pitchFamily="34" charset="0"/>
              </a:rPr>
              <a:t>条件下离线变形的</a:t>
            </a:r>
            <a:r>
              <a:rPr lang="en-US" altLang="zh-CN" dirty="0" err="1" smtClean="0">
                <a:solidFill>
                  <a:srgbClr val="222222"/>
                </a:solidFill>
                <a:latin typeface="Arial" panose="020B0604020202020204" pitchFamily="34" charset="0"/>
              </a:rPr>
              <a:t>Bentheim</a:t>
            </a:r>
            <a:r>
              <a:rPr lang="zh-CN" altLang="en-US" dirty="0" smtClean="0">
                <a:solidFill>
                  <a:srgbClr val="222222"/>
                </a:solidFill>
                <a:latin typeface="Arial" panose="020B0604020202020204" pitchFamily="34" charset="0"/>
              </a:rPr>
              <a:t>砂岩样品</a:t>
            </a:r>
            <a:r>
              <a:rPr lang="zh-CN" altLang="en-US" dirty="0" smtClean="0">
                <a:solidFill>
                  <a:srgbClr val="222222"/>
                </a:solidFill>
                <a:latin typeface="Arial" panose="020B0604020202020204" pitchFamily="34" charset="0"/>
              </a:rPr>
              <a:t>变形前后的中子断层扫描结果</a:t>
            </a:r>
            <a:r>
              <a:rPr lang="zh-CN" altLang="en-US" dirty="0" smtClean="0">
                <a:solidFill>
                  <a:srgbClr val="222222"/>
                </a:solidFill>
                <a:latin typeface="Arial" panose="020B0604020202020204" pitchFamily="34" charset="0"/>
              </a:rPr>
              <a:t>表明，可以获得内部结构的清晰图像，并可用于</a:t>
            </a:r>
            <a:r>
              <a:rPr lang="en-US" altLang="zh-CN" dirty="0" smtClean="0">
                <a:solidFill>
                  <a:srgbClr val="222222"/>
                </a:solidFill>
                <a:latin typeface="Arial" panose="020B0604020202020204" pitchFamily="34" charset="0"/>
              </a:rPr>
              <a:t>3D-DIC</a:t>
            </a:r>
            <a:r>
              <a:rPr lang="zh-CN" altLang="en-US" dirty="0" smtClean="0">
                <a:solidFill>
                  <a:srgbClr val="222222"/>
                </a:solidFill>
                <a:latin typeface="Arial" panose="020B0604020202020204" pitchFamily="34" charset="0"/>
              </a:rPr>
              <a:t>分析以揭示</a:t>
            </a:r>
            <a:r>
              <a:rPr lang="en-US" altLang="zh-CN" dirty="0" smtClean="0">
                <a:solidFill>
                  <a:srgbClr val="222222"/>
                </a:solidFill>
                <a:latin typeface="Arial" panose="020B0604020202020204" pitchFamily="34" charset="0"/>
              </a:rPr>
              <a:t>3D</a:t>
            </a:r>
            <a:r>
              <a:rPr lang="zh-CN" altLang="en-US" dirty="0" smtClean="0">
                <a:solidFill>
                  <a:srgbClr val="222222"/>
                </a:solidFill>
                <a:latin typeface="Arial" panose="020B0604020202020204" pitchFamily="34" charset="0"/>
              </a:rPr>
              <a:t>应变场的细节。从这些结果中可以描述研究样本中局部变形的特征。</a:t>
            </a:r>
            <a:endParaRPr lang="en-US" altLang="zh-CN" dirty="0" smtClean="0">
              <a:solidFill>
                <a:srgbClr val="222222"/>
              </a:solidFill>
              <a:latin typeface="Arial" panose="020B0604020202020204" pitchFamily="34" charset="0"/>
            </a:endParaRPr>
          </a:p>
          <a:p>
            <a:r>
              <a:rPr lang="en-US" altLang="zh-CN" dirty="0"/>
              <a:t>In this perspective, this work assesses the capability of neutron tomography with 3D-DIC to measure deformation fields in rock samples. Results from pre- and post-deformation neutron tomography of a </a:t>
            </a:r>
            <a:r>
              <a:rPr lang="en-US" altLang="zh-CN" dirty="0" err="1"/>
              <a:t>Bentheim</a:t>
            </a:r>
            <a:r>
              <a:rPr lang="en-US" altLang="zh-CN" dirty="0"/>
              <a:t> sandstone sample deformed </a:t>
            </a:r>
            <a:r>
              <a:rPr lang="en-US" altLang="zh-CN" i="1" dirty="0"/>
              <a:t>ex-situ</a:t>
            </a:r>
            <a:r>
              <a:rPr lang="en-US" altLang="zh-CN" dirty="0"/>
              <a:t> at 40 </a:t>
            </a:r>
            <a:r>
              <a:rPr lang="en-US" altLang="zh-CN" dirty="0" err="1"/>
              <a:t>MPa</a:t>
            </a:r>
            <a:r>
              <a:rPr lang="en-US" altLang="zh-CN" dirty="0"/>
              <a:t> show that clear images of the internal structure can be achieved and </a:t>
            </a:r>
            <a:r>
              <a:rPr lang="en-US" altLang="zh-CN" dirty="0" err="1"/>
              <a:t>utilised</a:t>
            </a:r>
            <a:r>
              <a:rPr lang="en-US" altLang="zh-CN" dirty="0"/>
              <a:t> for 3D-DIC analysis to reveal the details of the 3D strain field. From these results the character of the </a:t>
            </a:r>
            <a:r>
              <a:rPr lang="en-US" altLang="zh-CN" dirty="0" err="1"/>
              <a:t>localised</a:t>
            </a:r>
            <a:r>
              <a:rPr lang="en-US" altLang="zh-CN" dirty="0"/>
              <a:t> deformation in the study sample can thus be described. </a:t>
            </a:r>
            <a:endParaRPr lang="en-US" altLang="zh-CN" dirty="0">
              <a:solidFill>
                <a:srgbClr val="222222"/>
              </a:solidFill>
              <a:latin typeface="Arial" panose="020B0604020202020204" pitchFamily="34" charset="0"/>
            </a:endParaRPr>
          </a:p>
          <a:p>
            <a:r>
              <a:rPr lang="zh-CN" altLang="en-US" dirty="0" smtClean="0"/>
              <a:t>中子成像实验在</a:t>
            </a:r>
            <a:r>
              <a:rPr lang="en-US" altLang="zh-CN" dirty="0" smtClean="0"/>
              <a:t>CONRAD</a:t>
            </a:r>
            <a:r>
              <a:rPr lang="zh-CN" altLang="en-US" dirty="0" smtClean="0"/>
              <a:t>线站进行，</a:t>
            </a:r>
            <a:r>
              <a:rPr lang="en-US" altLang="zh-CN" dirty="0" smtClean="0"/>
              <a:t>L/D</a:t>
            </a:r>
            <a:r>
              <a:rPr lang="zh-CN" altLang="en-US" dirty="0" smtClean="0"/>
              <a:t>为</a:t>
            </a:r>
            <a:r>
              <a:rPr lang="en-US" altLang="zh-CN" dirty="0" smtClean="0"/>
              <a:t>500</a:t>
            </a:r>
            <a:r>
              <a:rPr lang="zh-CN" altLang="en-US" dirty="0" smtClean="0"/>
              <a:t>，体素约为</a:t>
            </a:r>
            <a:r>
              <a:rPr lang="en-US" altLang="zh-CN" dirty="0" smtClean="0"/>
              <a:t>30μm</a:t>
            </a:r>
            <a:r>
              <a:rPr lang="zh-CN" altLang="en-US" dirty="0" smtClean="0"/>
              <a:t>，每张投影图采集时间为</a:t>
            </a:r>
            <a:r>
              <a:rPr lang="en-US" altLang="zh-CN" dirty="0" smtClean="0"/>
              <a:t>30s</a:t>
            </a:r>
            <a:r>
              <a:rPr lang="zh-CN" altLang="en-US" dirty="0" smtClean="0"/>
              <a:t>，一次扫描共</a:t>
            </a:r>
            <a:r>
              <a:rPr lang="en-US" altLang="zh-CN" dirty="0" smtClean="0"/>
              <a:t>600</a:t>
            </a:r>
            <a:r>
              <a:rPr lang="zh-CN" altLang="en-US" dirty="0" smtClean="0"/>
              <a:t>张图，总时间约为</a:t>
            </a:r>
            <a:r>
              <a:rPr lang="en-US" altLang="zh-CN" dirty="0" smtClean="0"/>
              <a:t>6h</a:t>
            </a:r>
            <a:r>
              <a:rPr lang="zh-CN" altLang="en-US" dirty="0" smtClean="0"/>
              <a:t>。</a:t>
            </a:r>
            <a:endParaRPr lang="en-US" altLang="zh-CN" dirty="0" smtClean="0"/>
          </a:p>
          <a:p>
            <a:r>
              <a:rPr lang="en-US" altLang="zh-CN" dirty="0" smtClean="0"/>
              <a:t>Neutron images were acquired at the beam line CONRAD (</a:t>
            </a:r>
            <a:r>
              <a:rPr lang="en-US" altLang="zh-CN" dirty="0" err="1" smtClean="0"/>
              <a:t>Hilger</a:t>
            </a:r>
            <a:r>
              <a:rPr lang="en-US" altLang="zh-CN" dirty="0" smtClean="0"/>
              <a:t> et al., 2006) with a L/D of 500, a voxel size of about 30 μm and an acquisition time for each radiography of 30 seconds, which gives a total time of about 6 hours for a complete scan of 600 images.</a:t>
            </a:r>
            <a:endParaRPr lang="en-US" altLang="zh-CN" dirty="0"/>
          </a:p>
        </p:txBody>
      </p:sp>
    </p:spTree>
    <p:extLst>
      <p:ext uri="{BB962C8B-B14F-4D97-AF65-F5344CB8AC3E}">
        <p14:creationId xmlns:p14="http://schemas.microsoft.com/office/powerpoint/2010/main" val="2214852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6163" y="650413"/>
            <a:ext cx="11407590" cy="3416320"/>
          </a:xfrm>
          <a:prstGeom prst="rect">
            <a:avLst/>
          </a:prstGeom>
        </p:spPr>
        <p:txBody>
          <a:bodyPr wrap="square">
            <a:spAutoFit/>
          </a:bodyPr>
          <a:lstStyle/>
          <a:p>
            <a:r>
              <a:rPr lang="en-US" altLang="zh-CN" b="0" i="0" dirty="0" err="1" smtClean="0">
                <a:solidFill>
                  <a:srgbClr val="222222"/>
                </a:solidFill>
                <a:effectLst/>
                <a:latin typeface="Arial" panose="020B0604020202020204" pitchFamily="34" charset="0"/>
              </a:rPr>
              <a:t>Pohlmann</a:t>
            </a:r>
            <a:r>
              <a:rPr lang="en-US" altLang="zh-CN" b="0" i="0" dirty="0" smtClean="0">
                <a:solidFill>
                  <a:srgbClr val="222222"/>
                </a:solidFill>
                <a:effectLst/>
                <a:latin typeface="Arial" panose="020B0604020202020204" pitchFamily="34" charset="0"/>
              </a:rPr>
              <a:t>, </a:t>
            </a:r>
            <a:r>
              <a:rPr lang="en-US" altLang="zh-CN" b="0" i="0" dirty="0" err="1" smtClean="0">
                <a:solidFill>
                  <a:srgbClr val="222222"/>
                </a:solidFill>
                <a:effectLst/>
                <a:latin typeface="Arial" panose="020B0604020202020204" pitchFamily="34" charset="0"/>
              </a:rPr>
              <a:t>Carsten</a:t>
            </a:r>
            <a:r>
              <a:rPr lang="en-US" altLang="zh-CN" b="0" i="0" dirty="0" smtClean="0">
                <a:solidFill>
                  <a:srgbClr val="222222"/>
                </a:solidFill>
                <a:effectLst/>
                <a:latin typeface="Arial" panose="020B0604020202020204" pitchFamily="34" charset="0"/>
              </a:rPr>
              <a:t>, et al. "In operando visualization of hydride-graphite composites during cyclic hydrogenation by high-resolution neutron imaging." </a:t>
            </a:r>
            <a:r>
              <a:rPr lang="en-US" altLang="zh-CN" b="0" i="1" dirty="0" smtClean="0">
                <a:solidFill>
                  <a:srgbClr val="222222"/>
                </a:solidFill>
                <a:effectLst/>
                <a:latin typeface="Arial" panose="020B0604020202020204" pitchFamily="34" charset="0"/>
              </a:rPr>
              <a:t>Journal of Power Sources</a:t>
            </a:r>
            <a:r>
              <a:rPr lang="en-US" altLang="zh-CN" b="0" i="0" dirty="0" smtClean="0">
                <a:solidFill>
                  <a:srgbClr val="222222"/>
                </a:solidFill>
                <a:effectLst/>
                <a:latin typeface="Arial" panose="020B0604020202020204" pitchFamily="34" charset="0"/>
              </a:rPr>
              <a:t>277 (2015): 360-369.</a:t>
            </a:r>
          </a:p>
          <a:p>
            <a:r>
              <a:rPr lang="zh-CN" altLang="en-US" dirty="0" smtClean="0">
                <a:solidFill>
                  <a:srgbClr val="222222"/>
                </a:solidFill>
                <a:latin typeface="Arial" panose="020B0604020202020204" pitchFamily="34" charset="0"/>
              </a:rPr>
              <a:t>本文首次报道了基于</a:t>
            </a:r>
            <a:r>
              <a:rPr lang="en-US" altLang="zh-CN" dirty="0" smtClean="0">
                <a:solidFill>
                  <a:srgbClr val="222222"/>
                </a:solidFill>
                <a:latin typeface="Arial" panose="020B0604020202020204" pitchFamily="34" charset="0"/>
              </a:rPr>
              <a:t>Ti-</a:t>
            </a:r>
            <a:r>
              <a:rPr lang="en-US" altLang="zh-CN" dirty="0" err="1" smtClean="0">
                <a:solidFill>
                  <a:srgbClr val="222222"/>
                </a:solidFill>
                <a:latin typeface="Arial" panose="020B0604020202020204" pitchFamily="34" charset="0"/>
              </a:rPr>
              <a:t>Mn</a:t>
            </a:r>
            <a:r>
              <a:rPr lang="zh-CN" altLang="en-US" dirty="0" smtClean="0">
                <a:solidFill>
                  <a:srgbClr val="222222"/>
                </a:solidFill>
                <a:latin typeface="Arial" panose="020B0604020202020204" pitchFamily="34" charset="0"/>
              </a:rPr>
              <a:t>吸氢合金和膨胀天然石墨的氢化物 </a:t>
            </a:r>
            <a:r>
              <a:rPr lang="en-US" altLang="zh-CN" dirty="0" smtClean="0">
                <a:solidFill>
                  <a:srgbClr val="222222"/>
                </a:solidFill>
                <a:latin typeface="Arial" panose="020B0604020202020204" pitchFamily="34" charset="0"/>
              </a:rPr>
              <a:t>- </a:t>
            </a:r>
            <a:r>
              <a:rPr lang="zh-CN" altLang="en-US" dirty="0" smtClean="0">
                <a:solidFill>
                  <a:srgbClr val="222222"/>
                </a:solidFill>
                <a:latin typeface="Arial" panose="020B0604020202020204" pitchFamily="34" charset="0"/>
              </a:rPr>
              <a:t>石墨复合材料（</a:t>
            </a:r>
            <a:r>
              <a:rPr lang="en-US" altLang="zh-CN" dirty="0" smtClean="0">
                <a:solidFill>
                  <a:srgbClr val="222222"/>
                </a:solidFill>
                <a:latin typeface="Arial" panose="020B0604020202020204" pitchFamily="34" charset="0"/>
              </a:rPr>
              <a:t>HGC</a:t>
            </a:r>
            <a:r>
              <a:rPr lang="zh-CN" altLang="en-US" dirty="0" smtClean="0">
                <a:solidFill>
                  <a:srgbClr val="222222"/>
                </a:solidFill>
                <a:latin typeface="Arial" panose="020B0604020202020204" pitchFamily="34" charset="0"/>
              </a:rPr>
              <a:t>）活化和循环过程中的各种现象的综合分析。采用</a:t>
            </a:r>
            <a:r>
              <a:rPr lang="zh-CN" altLang="en-US" dirty="0" smtClean="0">
                <a:solidFill>
                  <a:srgbClr val="222222"/>
                </a:solidFill>
                <a:latin typeface="Arial" panose="020B0604020202020204" pitchFamily="34" charset="0"/>
              </a:rPr>
              <a:t>空间分辨率高至</a:t>
            </a:r>
            <a:r>
              <a:rPr lang="en-US" altLang="zh-CN" dirty="0" smtClean="0">
                <a:solidFill>
                  <a:srgbClr val="222222"/>
                </a:solidFill>
                <a:latin typeface="Arial" panose="020B0604020202020204" pitchFamily="34" charset="0"/>
              </a:rPr>
              <a:t>7μm</a:t>
            </a:r>
            <a:r>
              <a:rPr lang="zh-CN" altLang="en-US" dirty="0" smtClean="0">
                <a:solidFill>
                  <a:srgbClr val="222222"/>
                </a:solidFill>
                <a:latin typeface="Arial" panose="020B0604020202020204" pitchFamily="34" charset="0"/>
              </a:rPr>
              <a:t>的</a:t>
            </a:r>
            <a:r>
              <a:rPr lang="zh-CN" altLang="en-US" dirty="0" smtClean="0">
                <a:solidFill>
                  <a:srgbClr val="222222"/>
                </a:solidFill>
                <a:latin typeface="Arial" panose="020B0604020202020204" pitchFamily="34" charset="0"/>
              </a:rPr>
              <a:t>中子摄影和断层扫描，可实现最高的检测精度。在初始氢化期间，观察到了反应性增强的区域，这与理论上预期的</a:t>
            </a:r>
            <a:r>
              <a:rPr lang="en-US" altLang="zh-CN" dirty="0" smtClean="0">
                <a:solidFill>
                  <a:srgbClr val="222222"/>
                </a:solidFill>
                <a:latin typeface="Arial" panose="020B0604020202020204" pitchFamily="34" charset="0"/>
              </a:rPr>
              <a:t>HGC</a:t>
            </a:r>
            <a:r>
              <a:rPr lang="zh-CN" altLang="en-US" dirty="0" smtClean="0">
                <a:solidFill>
                  <a:srgbClr val="222222"/>
                </a:solidFill>
                <a:latin typeface="Arial" panose="020B0604020202020204" pitchFamily="34" charset="0"/>
              </a:rPr>
              <a:t>内部</a:t>
            </a:r>
            <a:r>
              <a:rPr lang="zh-CN" altLang="en-US" dirty="0" smtClean="0">
                <a:solidFill>
                  <a:srgbClr val="222222"/>
                </a:solidFill>
                <a:latin typeface="Arial" panose="020B0604020202020204" pitchFamily="34" charset="0"/>
              </a:rPr>
              <a:t>反应性均匀相矛盾。这些活性区随着加氢 </a:t>
            </a:r>
            <a:r>
              <a:rPr lang="en-US" altLang="zh-CN" dirty="0" smtClean="0">
                <a:solidFill>
                  <a:srgbClr val="222222"/>
                </a:solidFill>
                <a:latin typeface="Arial" panose="020B0604020202020204" pitchFamily="34" charset="0"/>
              </a:rPr>
              <a:t>- </a:t>
            </a:r>
            <a:r>
              <a:rPr lang="zh-CN" altLang="en-US" dirty="0" smtClean="0">
                <a:solidFill>
                  <a:srgbClr val="222222"/>
                </a:solidFill>
                <a:latin typeface="Arial" panose="020B0604020202020204" pitchFamily="34" charset="0"/>
              </a:rPr>
              <a:t>脱氢循环的次数而增长，直到整个</a:t>
            </a:r>
            <a:r>
              <a:rPr lang="en-US" altLang="zh-CN" dirty="0" smtClean="0">
                <a:solidFill>
                  <a:srgbClr val="222222"/>
                </a:solidFill>
                <a:latin typeface="Arial" panose="020B0604020202020204" pitchFamily="34" charset="0"/>
              </a:rPr>
              <a:t>HGC</a:t>
            </a:r>
            <a:r>
              <a:rPr lang="zh-CN" altLang="en-US" dirty="0" smtClean="0">
                <a:solidFill>
                  <a:srgbClr val="222222"/>
                </a:solidFill>
                <a:latin typeface="Arial" panose="020B0604020202020204" pitchFamily="34" charset="0"/>
              </a:rPr>
              <a:t>均匀地参与氢吸附反应。</a:t>
            </a:r>
            <a:endParaRPr lang="en-US" altLang="zh-CN" dirty="0" smtClean="0">
              <a:solidFill>
                <a:srgbClr val="222222"/>
              </a:solidFill>
              <a:latin typeface="Arial" panose="020B0604020202020204" pitchFamily="34" charset="0"/>
            </a:endParaRPr>
          </a:p>
          <a:p>
            <a:r>
              <a:rPr lang="en-US" altLang="zh-CN" dirty="0"/>
              <a:t>In this contribution, a comprehensive analysis of various phenomena during activation and cycling of HGC based on a Ti–</a:t>
            </a:r>
            <a:r>
              <a:rPr lang="en-US" altLang="zh-CN" dirty="0" err="1"/>
              <a:t>Mn</a:t>
            </a:r>
            <a:r>
              <a:rPr lang="en-US" altLang="zh-CN" dirty="0"/>
              <a:t> hydrogen absorbing alloy and expanded natural graphite is reported for the first time. A neutron radiography and tomography set-up with a spatial resolution down to 7 μm was utilized allowing highest detection precision. During initial hydrogenation, regions with enhanced reactivity are observed which contradicts a theoretically expected homogeneous reactivity inside the HGC. These active regions grow with the number of hydrogenation-dehydrogenation cycles until the whole HGC volume uniformly participates in the hydrogen sorption reaction.</a:t>
            </a:r>
            <a:endParaRPr lang="en-US" altLang="zh-CN" dirty="0">
              <a:solidFill>
                <a:srgbClr val="222222"/>
              </a:solidFill>
              <a:latin typeface="Arial" panose="020B0604020202020204" pitchFamily="34" charset="0"/>
            </a:endParaRPr>
          </a:p>
        </p:txBody>
      </p:sp>
    </p:spTree>
    <p:extLst>
      <p:ext uri="{BB962C8B-B14F-4D97-AF65-F5344CB8AC3E}">
        <p14:creationId xmlns:p14="http://schemas.microsoft.com/office/powerpoint/2010/main" val="1821563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54422" y="596624"/>
            <a:ext cx="10802471" cy="5078313"/>
          </a:xfrm>
          <a:prstGeom prst="rect">
            <a:avLst/>
          </a:prstGeom>
        </p:spPr>
        <p:txBody>
          <a:bodyPr wrap="square">
            <a:spAutoFit/>
          </a:bodyPr>
          <a:lstStyle/>
          <a:p>
            <a:r>
              <a:rPr lang="en-US" altLang="zh-CN" b="0" i="0" dirty="0" err="1" smtClean="0">
                <a:solidFill>
                  <a:srgbClr val="222222"/>
                </a:solidFill>
                <a:effectLst/>
                <a:latin typeface="Arial" panose="020B0604020202020204" pitchFamily="34" charset="0"/>
              </a:rPr>
              <a:t>Iranzo</a:t>
            </a:r>
            <a:r>
              <a:rPr lang="en-US" altLang="zh-CN" b="0" i="0" dirty="0" smtClean="0">
                <a:solidFill>
                  <a:srgbClr val="222222"/>
                </a:solidFill>
                <a:effectLst/>
                <a:latin typeface="Arial" panose="020B0604020202020204" pitchFamily="34" charset="0"/>
              </a:rPr>
              <a:t>, Alfredo, et al. "A novel approach coupling neutron imaging and numerical modelling for the analysis of the impact of water on fuel cell performance." </a:t>
            </a:r>
            <a:r>
              <a:rPr lang="en-US" altLang="zh-CN" b="0" i="1" dirty="0" smtClean="0">
                <a:solidFill>
                  <a:srgbClr val="222222"/>
                </a:solidFill>
                <a:effectLst/>
                <a:latin typeface="Arial" panose="020B0604020202020204" pitchFamily="34" charset="0"/>
              </a:rPr>
              <a:t>Energy</a:t>
            </a:r>
            <a:r>
              <a:rPr lang="en-US" altLang="zh-CN" b="0" i="0" dirty="0" smtClean="0">
                <a:solidFill>
                  <a:srgbClr val="222222"/>
                </a:solidFill>
                <a:effectLst/>
                <a:latin typeface="Arial" panose="020B0604020202020204" pitchFamily="34" charset="0"/>
              </a:rPr>
              <a:t> 68 (2014): 971-981.</a:t>
            </a:r>
          </a:p>
          <a:p>
            <a:r>
              <a:rPr lang="zh-CN" altLang="en-US" dirty="0" smtClean="0"/>
              <a:t>提出了一种新的建模框架，用于模拟在聚合物电解质燃料电池中</a:t>
            </a:r>
            <a:r>
              <a:rPr lang="en-US" altLang="zh-CN" dirty="0" smtClean="0"/>
              <a:t>GDL</a:t>
            </a:r>
            <a:r>
              <a:rPr lang="zh-CN" altLang="en-US" dirty="0" smtClean="0"/>
              <a:t>局部尺度上发生的扩散传质限制，特别是与多孔介质中液态水分布的关系。该框架的显著特点是液态水的分布不是由模型预测的，而是将中子成像获得的可靠的实验测量值映射到模拟模型中。因此液态水的分布在该模型中是气体扩散传输的可修改参数。这样可以实现实验测量和模型开发的耦合，可以进一步发展高度可靠的模型，以便理解燃料电池行为。对一个一维元胞进行了分析，根据模拟和实验数据的结果计算了有效扩散系数和扩散校正因子中的指数</a:t>
            </a:r>
            <a:r>
              <a:rPr lang="en-US" altLang="zh-CN" dirty="0" smtClean="0"/>
              <a:t>n</a:t>
            </a:r>
            <a:r>
              <a:rPr lang="zh-CN" altLang="en-US" dirty="0" smtClean="0"/>
              <a:t>。</a:t>
            </a:r>
            <a:endParaRPr lang="en-US" altLang="zh-CN" dirty="0" smtClean="0"/>
          </a:p>
          <a:p>
            <a:r>
              <a:rPr lang="en-US" altLang="zh-CN" dirty="0" smtClean="0"/>
              <a:t>A </a:t>
            </a:r>
            <a:r>
              <a:rPr lang="en-US" altLang="zh-CN" dirty="0"/>
              <a:t>novel modelling framework for the simulation of the diffusive mass transport limitations occurring at GDL local scale of </a:t>
            </a:r>
            <a:r>
              <a:rPr lang="en-US" altLang="zh-CN" dirty="0" smtClean="0"/>
              <a:t>PEFCs </a:t>
            </a:r>
            <a:r>
              <a:rPr lang="en-US" altLang="zh-CN" dirty="0"/>
              <a:t>(</a:t>
            </a:r>
            <a:r>
              <a:rPr lang="en-US" altLang="zh-CN" dirty="0" smtClean="0"/>
              <a:t>Polymer Electrolyte Fuel Cells) </a:t>
            </a:r>
            <a:r>
              <a:rPr lang="en-US" altLang="zh-CN" dirty="0"/>
              <a:t>is presented, in particular in relation with the distribution of liquid water in the porous media. The distinctive characteristic of this framework is the fact that the distribution of liquid water is not predicted by the model but it is instead mapped into the simulation model from available experimental measurements, obtained with neutron imaging. The presence of liquid water is thus included in the model as a modifier for the gas diffusion transport, and not directly calculated by the model. This allows for a coupling of experimental measurements and model development that is expected to allow a further progress of highly reliable models for the understanding of local fuel cell phenomena. A 1D cell is analyzed, and the effective diffusion coefficient and the </a:t>
            </a:r>
            <a:r>
              <a:rPr lang="en-US" altLang="zh-CN" i="1" dirty="0" err="1"/>
              <a:t>n</a:t>
            </a:r>
            <a:r>
              <a:rPr lang="en-US" altLang="zh-CN" dirty="0" err="1"/>
              <a:t>exponent</a:t>
            </a:r>
            <a:r>
              <a:rPr lang="en-US" altLang="zh-CN" dirty="0"/>
              <a:t> in the diffusion correction factor is calculated from the results of the combination of modelling and experimental data.</a:t>
            </a:r>
            <a:endParaRPr lang="zh-CN" altLang="en-US" dirty="0"/>
          </a:p>
        </p:txBody>
      </p:sp>
    </p:spTree>
    <p:extLst>
      <p:ext uri="{BB962C8B-B14F-4D97-AF65-F5344CB8AC3E}">
        <p14:creationId xmlns:p14="http://schemas.microsoft.com/office/powerpoint/2010/main" val="330155478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821</TotalTime>
  <Words>240</Words>
  <Application>Microsoft Office PowerPoint</Application>
  <PresentationFormat>宽屏</PresentationFormat>
  <Paragraphs>35</Paragraphs>
  <Slides>11</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11</vt:i4>
      </vt:variant>
    </vt:vector>
  </HeadingPairs>
  <TitlesOfParts>
    <vt:vector size="17" baseType="lpstr">
      <vt:lpstr>宋体</vt:lpstr>
      <vt:lpstr>微软雅黑</vt:lpstr>
      <vt:lpstr>Arial</vt:lpstr>
      <vt:lpstr>Calibri</vt:lpstr>
      <vt:lpstr>Calibri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Wenchao Liu</dc:creator>
  <cp:lastModifiedBy>Wenchao Liu</cp:lastModifiedBy>
  <cp:revision>21</cp:revision>
  <dcterms:created xsi:type="dcterms:W3CDTF">2018-03-28T13:36:03Z</dcterms:created>
  <dcterms:modified xsi:type="dcterms:W3CDTF">2018-03-29T03:17:13Z</dcterms:modified>
</cp:coreProperties>
</file>